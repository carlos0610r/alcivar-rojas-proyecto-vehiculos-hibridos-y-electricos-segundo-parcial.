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8439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4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801859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</a:rPr>
              <a:t>SIMULACIÓN DE SISTEMAS DE</a:t>
            </a:r>
            <a:endParaRPr lang="en-US" sz="4400" dirty="0"/>
          </a:p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</a:rPr>
              <a:t>VEHÍCULOS ELÉCTRICOS EN MATLAB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74144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02C39A"/>
                </a:solidFill>
              </a:rPr>
              <a:t>Modelado y Análisis del BYD Seagull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596053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2F2F2"/>
                </a:solidFill>
              </a:rPr>
              <a:t>Jimmy Alcivar | Carlos Rojas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2F2F2"/>
                </a:solidFill>
              </a:rPr>
              <a:t>Universidad Politécnica Salesiana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44506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A896"/>
                </a:solidFill>
              </a:rPr>
              <a:t>Vehículos Eléctricos e Híbridos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8090"/>
                </a:solidFill>
              </a:rPr>
              <a:t>OBJETIVOS DEL PROYECTO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97280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14451"/>
                </a:solidFill>
              </a:rPr>
              <a:t>Modelado Integral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1463040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</a:rPr>
              <a:t>Desarrollar un modelo completo del vehículo eléctrico BYD Seagull integrando batería, motor y dinámica vehicular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280160" y="2286000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14451"/>
                </a:solidFill>
              </a:rPr>
              <a:t>Herramientas MATLAB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80160" y="2651760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</a:rPr>
              <a:t>Utilizar Virtual Vehicle Composer, Battery Builder y Motor Control Blockset para simulación profesional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566161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12" name="Text 10"/>
          <p:cNvSpPr/>
          <p:nvPr/>
        </p:nvSpPr>
        <p:spPr>
          <a:xfrm>
            <a:off x="640080" y="3566161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280160" y="3566161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14451"/>
                </a:solidFill>
              </a:rPr>
              <a:t>Análisis de Desempeño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80160" y="3931921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</a:rPr>
              <a:t>Evaluar el comportamiento dinámico, eléctrico y energético del sistema bajo condiciones de conducción realistas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30823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8090"/>
                </a:solidFill>
              </a:rPr>
              <a:t>VEHÍCULO DE ESTUDIO: BYD SEAGULL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2005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14451"/>
                </a:solidFill>
              </a:rPr>
              <a:t>Especificaciones Técnicas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550963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Masa del vehículo: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926080" y="1550963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</a:rPr>
              <a:t>1067 kg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86829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Distancia CG - Eje frontal: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926080" y="1886829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</a:rPr>
              <a:t>1.38 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222695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Distancia CG - Eje trasero: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926080" y="2236763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</a:rPr>
              <a:t>1.12 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5374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Altura del CG: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26080" y="2570871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</a:rPr>
              <a:t>0.50 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850466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Área frontal: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26080" y="286453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</a:rPr>
              <a:t>2.25 m²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165231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Coeficiente aerodinámico: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926080" y="318457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</a:rPr>
              <a:t>0.29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492305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Voltaje nominal batería: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926080" y="350461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</a:rPr>
              <a:t>314 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83872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Motor PMSM: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926080" y="3826413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</a:rPr>
              <a:t>TZ180XSH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0" y="1092005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14451"/>
                </a:solidFill>
              </a:rPr>
              <a:t>Características Destacadas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212080" y="1962443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</a:rPr>
              <a:t>• Vehículo 100% eléctrico urbano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212080" y="2373923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</a:rPr>
              <a:t>• Batería tipo Blade con tecnología Cell-to-Pack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12080" y="2785403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</a:rPr>
              <a:t>• Motor síncrono de imanes permanentes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12080" y="3196883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</a:rPr>
              <a:t>• Sistema de tracción delantera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12080" y="3608363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</a:rPr>
              <a:t>• Diseño aerodinámico optimizado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1606" y="4607169"/>
            <a:ext cx="8229600" cy="4572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C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57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8090"/>
                </a:solidFill>
              </a:rPr>
              <a:t>METODOLOGÍA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00584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71600" y="960120"/>
            <a:ext cx="7132320" cy="1188720"/>
          </a:xfrm>
          <a:prstGeom prst="rect">
            <a:avLst/>
          </a:prstGeom>
          <a:solidFill>
            <a:srgbClr val="F2F2F2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1554480" y="1097280"/>
            <a:ext cx="6766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14451"/>
                </a:solidFill>
              </a:rPr>
              <a:t>Virtual Vehicle Composer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54480" y="1508760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</a:rPr>
              <a:t>Creación de arquitectura vehicular y simulación de dinámica longitudinal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321169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9" name="Text 7"/>
          <p:cNvSpPr/>
          <p:nvPr/>
        </p:nvSpPr>
        <p:spPr>
          <a:xfrm>
            <a:off x="640080" y="2321169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1371600" y="2275449"/>
            <a:ext cx="7132320" cy="1188720"/>
          </a:xfrm>
          <a:prstGeom prst="rect">
            <a:avLst/>
          </a:prstGeom>
          <a:solidFill>
            <a:srgbClr val="F2F2F2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1" name="Text 9"/>
          <p:cNvSpPr/>
          <p:nvPr/>
        </p:nvSpPr>
        <p:spPr>
          <a:xfrm>
            <a:off x="1554480" y="2412609"/>
            <a:ext cx="6766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14451"/>
                </a:solidFill>
              </a:rPr>
              <a:t>Battery Builder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54480" y="2824089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</a:rPr>
              <a:t>Diseño del paquete de baterías (2p110s) con celdas tipo Blade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617156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640080" y="361715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1371600" y="3571436"/>
            <a:ext cx="7132320" cy="1188720"/>
          </a:xfrm>
          <a:prstGeom prst="rect">
            <a:avLst/>
          </a:prstGeom>
          <a:solidFill>
            <a:srgbClr val="F2F2F2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6" name="Text 14"/>
          <p:cNvSpPr/>
          <p:nvPr/>
        </p:nvSpPr>
        <p:spPr>
          <a:xfrm>
            <a:off x="1554480" y="3708596"/>
            <a:ext cx="6766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14451"/>
                </a:solidFill>
              </a:rPr>
              <a:t>Motor Control Blockset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54480" y="4120076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</a:rPr>
              <a:t>Modelado del PMSM con control V/f para arranque suave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96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8090"/>
                </a:solidFill>
              </a:rPr>
              <a:t>VIRTUAL VEHICLE COMPOSER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14451"/>
                </a:solidFill>
              </a:rPr>
              <a:t>Arquitectura del Sistema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</a:rPr>
              <a:t>• Fuente de energía (batería)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19543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</a:rPr>
              <a:t>• Conversión (inversor + motor PMSM)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2727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</a:rPr>
              <a:t>• Transmisión y diferencial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205111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</a:rPr>
              <a:t>• Chasis y dinámica longitudinal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4917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</a:rPr>
              <a:t>• Control de velocidad y par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8803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14451"/>
                </a:solidFill>
              </a:rPr>
              <a:t>Variables Monitoreadas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• Velocidad del motor eléctrico (EMSpd)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539783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• Par y potencia (EMTrq, EMPwrElec)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840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• Voltaje y corriente de batería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4125351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• Estado de carga (SOC)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4389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• Temperaturas del sistema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0" y="1000564"/>
            <a:ext cx="3657600" cy="3759591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16" name="Text 14"/>
          <p:cNvSpPr/>
          <p:nvPr/>
        </p:nvSpPr>
        <p:spPr>
          <a:xfrm>
            <a:off x="5212080" y="13935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BENEFICIOS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303520" y="17593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✓ Reducción del tiempo de desarrollo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03520" y="2214782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✓ Parametrización rápida de subsistemas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03520" y="2700996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✓ Evaluación de escenarios de conducción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303520" y="3135336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✓ Análisis energético integrado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03520" y="3489666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✓ Validación temprana del diseño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124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8090"/>
                </a:solidFill>
              </a:rPr>
              <a:t>BATTERY BUILDER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0676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14451"/>
                </a:solidFill>
              </a:rPr>
              <a:t>Configuración de Batería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8270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Configuración: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0" y="18270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</a:rPr>
              <a:t>2p110s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1013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Celdas en paralelo: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0" y="21013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3528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Grupos en serie: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0" y="23528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</a:rPr>
              <a:t>110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613073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Voltaje nominal: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0" y="26271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</a:rPr>
              <a:t>314 V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87684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Tipo de celda: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43200" y="2887393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</a:rPr>
              <a:t>Prismatic (Blade)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151163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Capacidad por celda: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743200" y="3147647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</a:rPr>
              <a:t>126.5 Ah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4149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Energía por celda: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743200" y="3421966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</a:rPr>
              <a:t>405 Wh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29200" y="411480"/>
            <a:ext cx="3657600" cy="2286000"/>
          </a:xfrm>
          <a:prstGeom prst="rect">
            <a:avLst/>
          </a:prstGeom>
          <a:solidFill>
            <a:srgbClr val="F2F2F2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" name="Text 17"/>
          <p:cNvSpPr/>
          <p:nvPr/>
        </p:nvSpPr>
        <p:spPr>
          <a:xfrm>
            <a:off x="5212080" y="5943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14451"/>
                </a:solidFill>
              </a:rPr>
              <a:t>Desafíos y Soluciones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394960" y="10515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⚠️ Limitación: Número máximo de elementos en MATLAB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394960" y="16002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✓ Solución: Configuración 2p110s adaptada para alcanzar el voltaje nominal de 314V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0" y="2729132"/>
            <a:ext cx="3657600" cy="210312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23" name="Text 21"/>
          <p:cNvSpPr/>
          <p:nvPr/>
        </p:nvSpPr>
        <p:spPr>
          <a:xfrm>
            <a:off x="5212080" y="291201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Tecnología Cell-to-Pack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394960" y="336921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Eliminación de módulos intermedios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94960" y="368925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Mantenimiento simplificado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394960" y="40092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Mayor densidad energética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94960" y="432933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Reducción de costos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8090"/>
                </a:solidFill>
              </a:rPr>
              <a:t>MOTOR CONTROL BLOCKSET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58236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14451"/>
                </a:solidFill>
              </a:rPr>
              <a:t>Motor PMSM TZ180XSH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76971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Pares de polos: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743200" y="176971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</a:rPr>
              <a:t>8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04403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Inercia rotacional: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0" y="206865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</a:rPr>
              <a:t>0.09 kg·m²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31835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Resistencia estator: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0" y="235071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</a:rPr>
              <a:t>0.013 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63839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Inductancia eje D: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0" y="2639099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</a:rPr>
              <a:t>150 µH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9355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Inductancia eje Q: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0" y="295632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</a:rPr>
              <a:t>250 µH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319846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Flujo magnético: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0" y="319846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</a:rPr>
              <a:t>0.175 Wb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49564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Voltaje nominal: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43200" y="348878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</a:rPr>
              <a:t>400 V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80882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Velocidad nominal: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743200" y="380882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</a:rPr>
              <a:t>9600 RPM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06275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Par de carga: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43200" y="408385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</a:rPr>
              <a:t>135 Nm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2" y="1005840"/>
            <a:ext cx="3657600" cy="2145323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23" name="Text 21"/>
          <p:cNvSpPr/>
          <p:nvPr/>
        </p:nvSpPr>
        <p:spPr>
          <a:xfrm>
            <a:off x="5212082" y="1135966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Control V/f (Voltaje/Frecuencia)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394962" y="154041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• Estrategia de lazo abierto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94962" y="181473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• Arranque suave del motor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94962" y="2081315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• Relación V/f constante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394962" y="2332775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• Prevención de sobrecorrientes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94962" y="2584235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• Adecuado para estudios preliminares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029202" y="3200400"/>
            <a:ext cx="3657600" cy="1645920"/>
          </a:xfrm>
          <a:prstGeom prst="rect">
            <a:avLst/>
          </a:prstGeom>
          <a:solidFill>
            <a:srgbClr val="F2F2F2"/>
          </a:solidFill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" name="Text 28"/>
          <p:cNvSpPr/>
          <p:nvPr/>
        </p:nvSpPr>
        <p:spPr>
          <a:xfrm>
            <a:off x="5212082" y="33832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14451"/>
                </a:solidFill>
              </a:rPr>
              <a:t>Ventajas del PMSM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394962" y="37490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✓ Alta densidad de potencia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✓ Eficiencia elevada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✓ Respuesta dinámica excelente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8090"/>
                </a:solidFill>
              </a:rPr>
              <a:t>RESULTADOS DE LA SIMULACIÓN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0744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14451"/>
                </a:solidFill>
              </a:rPr>
              <a:t>Dinámica del Vehículo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505243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✓ Comportamiento coherente en aceleración y frenado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749669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✓ Respuesta adecuada del motor a demanda de par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023989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✓ Transitorios claramente identificables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34139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14451"/>
                </a:solidFill>
              </a:rPr>
              <a:t>Sistema de Batería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63681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✓ Caída de voltaje consistente con aumento de corriente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2918607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✓ SOC con disminución progresiva esperada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18919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✓ Temperatura estable durante la simulación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543959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14451"/>
                </a:solidFill>
              </a:rPr>
              <a:t>Motor Eléctrico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3863999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✓ Control V/f efectivo para arranque suave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4138319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✓ Relación par-velocidad-potencia coherente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4412639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✓ Respuesta dinámica adecuada a cambios de carga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8090"/>
                </a:solidFill>
              </a:rPr>
              <a:t>ANÁLISIS Y VALIDACIÓN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14451"/>
                </a:solidFill>
              </a:rPr>
              <a:t>Consistencia del Modelo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• Variables eléctricas coherentes con mecánicas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8059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• Interacción batería-inversor-motor validada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• Comportamiento energético físicamente consistente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47591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• Respuesta térmica dentro de lo esperado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0" y="1188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14451"/>
                </a:solidFill>
              </a:rPr>
              <a:t>Limitaciones Identificadas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212080" y="16230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• Configuración de batería adaptada por restricciones de software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212080" y="194573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• Modelo térmico simplificado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212080" y="220599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• Control en lazo abierto (V/f básico)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12080" y="25286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• Datos limitados en ficha técnica del fabricante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058843"/>
            <a:ext cx="8229600" cy="1558877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640080" y="3154681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VALIDACIÓN DE RESULTADOS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3566161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Los resultados obtenidos demuestran la utilidad de MATLAB-Simulink como plataforma confiable para análisis preliminar y validación temprana de sistemas de propulsión eléctrica, permitiendo el dimensionamiento y evaluación de componentes antes de la implementación física.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8090"/>
                </a:solidFill>
              </a:rPr>
              <a:t>CONCLUSIONES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411480" cy="4114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88720" y="128016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Virtual Vehicle Composer facilita la integración estructurada de subsistemas del EV, permitiendo análisis simultáneo de variables mecánicas, eléctricas y energéticas con coherencia física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411480" cy="4114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7" name="Text 5"/>
          <p:cNvSpPr/>
          <p:nvPr/>
        </p:nvSpPr>
        <p:spPr>
          <a:xfrm>
            <a:off x="64008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88720" y="19202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Battery Builder, pese a limitaciones de software, permitió modelar un paquete de baterías funcional alcanzando el voltaje nominal requerido mediante configuración 2p110s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578784"/>
            <a:ext cx="411480" cy="4114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10" name="Text 8"/>
          <p:cNvSpPr/>
          <p:nvPr/>
        </p:nvSpPr>
        <p:spPr>
          <a:xfrm>
            <a:off x="640080" y="257878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2578784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El modelado del PMSM con control V/f demostró ser efectivo para estudios preliminares, permitiendo evaluar la interacción entre parámetros del motor, inversor y estrategia de control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244362"/>
            <a:ext cx="411480" cy="4114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13" name="Text 11"/>
          <p:cNvSpPr/>
          <p:nvPr/>
        </p:nvSpPr>
        <p:spPr>
          <a:xfrm>
            <a:off x="640080" y="324436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3244362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</a:rPr>
              <a:t>MATLAB-Simulink se confirma como plataforma robusta para dimensionamiento y validación temprana de sistemas de propulsión eléctrica, reduciendo tiempos y costos de desarrollo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8090"/>
                </a:solidFill>
              </a:rPr>
              <a:t>TRABAJOS FUTUROS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931920" cy="1005840"/>
          </a:xfrm>
          <a:prstGeom prst="rect">
            <a:avLst/>
          </a:prstGeom>
          <a:solidFill>
            <a:srgbClr val="F2F2F2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" name="Text 2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🔧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15087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14451"/>
                </a:solidFill>
              </a:rPr>
              <a:t>Control Avanzado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43000" y="18745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Implementar control vectorial FOC para mejor desempeño dinámico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3931920" cy="1005840"/>
          </a:xfrm>
          <a:prstGeom prst="rect">
            <a:avLst/>
          </a:prstGeom>
          <a:solidFill>
            <a:srgbClr val="F2F2F2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8" name="Text 6"/>
          <p:cNvSpPr/>
          <p:nvPr/>
        </p:nvSpPr>
        <p:spPr>
          <a:xfrm>
            <a:off x="59436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🌡️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143000" y="26517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14451"/>
                </a:solidFill>
              </a:rPr>
              <a:t>Modelo Térmico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43000" y="30175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Desarrollar modelo térmico detallado de batería y motor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3931920" cy="1005840"/>
          </a:xfrm>
          <a:prstGeom prst="rect">
            <a:avLst/>
          </a:prstGeom>
          <a:solidFill>
            <a:srgbClr val="F2F2F2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" name="Text 10"/>
          <p:cNvSpPr/>
          <p:nvPr/>
        </p:nvSpPr>
        <p:spPr>
          <a:xfrm>
            <a:off x="594360" y="3794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🔄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143000" y="37947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14451"/>
                </a:solidFill>
              </a:rPr>
              <a:t>Regeneración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43000" y="41605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Incorporar sistema de frenado regenerativo completo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46320" y="1371600"/>
            <a:ext cx="3931920" cy="1005840"/>
          </a:xfrm>
          <a:prstGeom prst="rect">
            <a:avLst/>
          </a:prstGeom>
          <a:solidFill>
            <a:srgbClr val="F2F2F2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6" name="Text 14"/>
          <p:cNvSpPr/>
          <p:nvPr/>
        </p:nvSpPr>
        <p:spPr>
          <a:xfrm>
            <a:off x="498348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📈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532120" y="15087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14451"/>
                </a:solidFill>
              </a:rPr>
              <a:t>Optimización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532120" y="18745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Optimización de parámetros para máxima eficiencia energética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46320" y="2514600"/>
            <a:ext cx="3931920" cy="1005840"/>
          </a:xfrm>
          <a:prstGeom prst="rect">
            <a:avLst/>
          </a:prstGeom>
          <a:solidFill>
            <a:srgbClr val="F2F2F2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0" name="Text 18"/>
          <p:cNvSpPr/>
          <p:nvPr/>
        </p:nvSpPr>
        <p:spPr>
          <a:xfrm>
            <a:off x="498348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🚗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532120" y="26517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14451"/>
                </a:solidFill>
              </a:rPr>
              <a:t>Validación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532120" y="30175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Comparación con datos experimentales de vehículo real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8090"/>
                </a:solidFill>
              </a:rPr>
              <a:t>REFERENCIAS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150034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[1] MathWorks, Motor Control Blockset™ User's Guide, Natick, MA, USA: The MathWorks, Inc., 2024.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[2] MathWorks, Simscape Electrical™ Documentation, Natick, MA, USA: The MathWorks, Inc., 2024.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853418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[3] BYD Company Ltd., BYD Seagull Technical Specifications, 2024.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233246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[4] Virtual Vehicle Composer Documentation, MathWorks, 2024.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57175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[5] Battery Builder User Guide, MathWorks Simscape Battery, 2024.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758462" y="3566160"/>
            <a:ext cx="5486400" cy="9144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9" name="Text 7"/>
          <p:cNvSpPr/>
          <p:nvPr/>
        </p:nvSpPr>
        <p:spPr>
          <a:xfrm>
            <a:off x="1758462" y="37490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¿PREGUNTAS?</a:t>
            </a:r>
            <a:endParaRPr lang="en-US" sz="3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14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</a:rPr>
              <a:t>GRACIAS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2C39A"/>
                </a:solidFill>
              </a:rPr>
              <a:t>Jimmy Alcivar | Carlos Rojas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2F2F2"/>
                </a:solidFill>
              </a:rPr>
              <a:t>Universidad Politécnica Salesiana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2F2F2"/>
                </a:solidFill>
              </a:rPr>
              <a:t>Vehículos Eléctricos e Híbridos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953</Words>
  <Application>Microsoft Office PowerPoint</Application>
  <PresentationFormat>On-screen Show (16:9)</PresentationFormat>
  <Paragraphs>198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Simulación de Sistemas de Vehículos Eléctricos en MATLAB</dc:title>
  <dc:subject>PptxGenJS Presentation</dc:subject>
  <dc:creator>Jimmy Alcivar &amp; Carlos Rojas</dc:creator>
  <cp:lastModifiedBy>Carlos Rojas</cp:lastModifiedBy>
  <cp:revision>3</cp:revision>
  <dcterms:created xsi:type="dcterms:W3CDTF">2026-02-12T02:51:44Z</dcterms:created>
  <dcterms:modified xsi:type="dcterms:W3CDTF">2026-02-12T03:27:46Z</dcterms:modified>
</cp:coreProperties>
</file>